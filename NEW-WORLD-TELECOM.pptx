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DM Sans Medium" pitchFamily="2" charset="0"/>
      <p:regular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469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2D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84073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NEW WORLD TELECOM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714849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Control Presupuestario y KPIs Financieros 2025–2026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9083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Índice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5" name="Text 3"/>
          <p:cNvSpPr/>
          <p:nvPr/>
        </p:nvSpPr>
        <p:spPr>
          <a:xfrm>
            <a:off x="661475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4347359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8" name="Text 6"/>
          <p:cNvSpPr/>
          <p:nvPr/>
        </p:nvSpPr>
        <p:spPr>
          <a:xfrm>
            <a:off x="4347359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033244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1" name="Text 9"/>
          <p:cNvSpPr/>
          <p:nvPr/>
        </p:nvSpPr>
        <p:spPr>
          <a:xfrm>
            <a:off x="8033244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1475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661475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347359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47359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7" name="Text 15"/>
          <p:cNvSpPr/>
          <p:nvPr/>
        </p:nvSpPr>
        <p:spPr>
          <a:xfrm>
            <a:off x="4347359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8033244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06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33244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0" name="Text 18"/>
          <p:cNvSpPr/>
          <p:nvPr/>
        </p:nvSpPr>
        <p:spPr>
          <a:xfrm>
            <a:off x="8033244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61475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07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1475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3" name="Text 21"/>
          <p:cNvSpPr/>
          <p:nvPr/>
        </p:nvSpPr>
        <p:spPr>
          <a:xfrm>
            <a:off x="661475" y="4834830"/>
            <a:ext cx="349687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4347359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08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347359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6" name="Text 24"/>
          <p:cNvSpPr/>
          <p:nvPr/>
        </p:nvSpPr>
        <p:spPr>
          <a:xfrm>
            <a:off x="4347359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8033244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09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8033244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9" name="Text 27"/>
          <p:cNvSpPr/>
          <p:nvPr/>
        </p:nvSpPr>
        <p:spPr>
          <a:xfrm>
            <a:off x="8033244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305223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nuestro meticuloso proceso para asegurar la calidad y confiabilidad de los datos que impulsan sus decisiones estratégicas.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1475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6" name="Text 4"/>
          <p:cNvSpPr/>
          <p:nvPr/>
        </p:nvSpPr>
        <p:spPr>
          <a:xfrm>
            <a:off x="661475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Fuente original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1475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241 registros brutos de 6 departamentos, 5 categorías y 24 períodos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37934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37934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4337934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Limpieza ETL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37934" y="2524522"/>
            <a:ext cx="3515828" cy="1719064"/>
          </a:xfrm>
          <a:prstGeom prst="rect">
            <a:avLst/>
          </a:prstGeom>
          <a:noFill/>
          <a:ln/>
        </p:spPr>
        <p:txBody>
          <a:bodyPr wrap="square" lIns="0" tIns="69700" rIns="0" bIns="0" rtlCol="0" anchor="t">
            <a:normAutofit/>
          </a:bodyPr>
          <a:lstStyle/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Eliminación de duplicados y valores nulos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Normalización de nombres inconsistentes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de rangos y coherencia temporal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014392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4392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8014392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Resultado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14392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registros válidos (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95,4%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integridad)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1475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1475" y="4812010"/>
            <a:ext cx="53540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8" name="Text 16"/>
          <p:cNvSpPr/>
          <p:nvPr/>
        </p:nvSpPr>
        <p:spPr>
          <a:xfrm>
            <a:off x="661475" y="4937224"/>
            <a:ext cx="53540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Herramientas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1475" y="5305723"/>
            <a:ext cx="53540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(Pandas, NumPy) para transformación; SQL para validación relacional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176113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6113" y="4812010"/>
            <a:ext cx="53541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2" name="Text 20"/>
          <p:cNvSpPr/>
          <p:nvPr/>
        </p:nvSpPr>
        <p:spPr>
          <a:xfrm>
            <a:off x="6176113" y="4937224"/>
            <a:ext cx="53541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Impacto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76113" y="5305723"/>
            <a:ext cx="53541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 y confiable como base para KPIs y forecast estadístico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3548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3104158"/>
            <a:ext cx="762378" cy="7623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0087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SQL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660087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Modelado relacional y diseño del esquema en estrella. Base estructural del sistema de datos.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3104158"/>
            <a:ext cx="762378" cy="7623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174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Python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36174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 ETL, cálculo de KPIs y generación del modelo de forecast estadístico.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794" y="3104158"/>
            <a:ext cx="762378" cy="76239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6340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Power BI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06340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interactivo de 6 páginas con métricas DAX para seguimiento ejecutivo en tiempo real.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011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53245"/>
            <a:ext cx="5187234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6,09M€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1317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Ingresos Totales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42185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Facturación consolidada del ejercicio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215324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4,30M€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301317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342185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presupuestaria anual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196755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29,3%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61475" y="505668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546536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Rentabilidad sobre ingresos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419675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100,1%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13915" y="505668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Ejecución Presupuestaria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546536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casi perfecto al plan</a:t>
            </a:r>
            <a:endParaRPr lang="en-US" sz="1450" dirty="0"/>
          </a:p>
        </p:txBody>
      </p:sp>
      <p:pic>
        <p:nvPicPr>
          <p:cNvPr id="16" name="Imagen 15" descr="Código QR&#10;&#10;El contenido generado por IA puede ser incorrecto.">
            <a:extLst>
              <a:ext uri="{FF2B5EF4-FFF2-40B4-BE49-F238E27FC236}">
                <a16:creationId xmlns:a16="http://schemas.microsoft.com/office/drawing/2014/main" id="{50C07859-6803-9864-7E25-0429BD3B1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302" y="1924"/>
            <a:ext cx="1969698" cy="19696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3936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1513483"/>
            <a:ext cx="6296860" cy="14423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77479" y="1727895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B2B Corporativos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977479" y="2136577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+18,3%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 anual. Motor principal de ingresos en el segmento empresarial.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144838"/>
            <a:ext cx="6296860" cy="144234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7479" y="3359249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Residenciales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977479" y="3767931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+9,4%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crecimiento. Expansión sostenida en atención al cliente y cobertura doméstica.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776192"/>
            <a:ext cx="6296860" cy="14423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7479" y="4990604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Cloud / Digital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977479" y="5399286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línea de mayor crecimiento. El segmento Tecnología y TI lidera la transformación digital del negocio.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70124"/>
            <a:ext cx="6913390" cy="39176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13400" y="714077"/>
            <a:ext cx="352307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8013400" y="1987649"/>
            <a:ext cx="352307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analítico se apoya en 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esquema en estrella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 cobertura completa de la organización.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8013400" y="2960985"/>
            <a:ext cx="3523070" cy="203874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 departamentos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5 categorías, 24 períodos de análisis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limpio: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230 de 241 registros válidos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(95,4% de integridad)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Anomalías identificadas y corregidas: nombres inconsistentes, valores nulos y duplicados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013400" y="5186561"/>
            <a:ext cx="3523070" cy="936625"/>
          </a:xfrm>
          <a:prstGeom prst="roundRect">
            <a:avLst>
              <a:gd name="adj" fmla="val 2838"/>
            </a:avLst>
          </a:prstGeom>
          <a:solidFill>
            <a:srgbClr val="E3E3E8"/>
          </a:solidFill>
          <a:ln/>
        </p:spPr>
        <p:txBody>
          <a:bodyPr/>
          <a:lstStyle/>
          <a:p>
            <a:endParaRPr lang="es-VE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601" y="5438676"/>
            <a:ext cx="221451" cy="1772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89252" y="5380236"/>
            <a:ext cx="27700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calidad del dato es la base de cualquier proyección fiable.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636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93106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6949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estadística robusta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53779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ingresos proyectados para 2026 ascienden a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7.028.269 €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lo que representa un crecimiento del </a:t>
            </a: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+15,3%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al ejercicio 2025.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531096"/>
            <a:ext cx="5203794" cy="97333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Método: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Tendencia histórica + estacionalidad mensual + intervalo de confianza al 95%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Rango B2B estimado: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3.751.888 € – 3.891.917 €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332776" y="4674493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metodología incorpora explícitamente el margen de error, dotando al forecast de una credibilidad estadística defendible.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3851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4" name="Text 2"/>
          <p:cNvSpPr/>
          <p:nvPr/>
        </p:nvSpPr>
        <p:spPr>
          <a:xfrm>
            <a:off x="850482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 Planificado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0482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4.482.809 €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Incremento del +4,2% sobre el presupuesto 2025. Crecimiento controlado y alineado con la estrategia.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47359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7" name="Text 5"/>
          <p:cNvSpPr/>
          <p:nvPr/>
        </p:nvSpPr>
        <p:spPr>
          <a:xfrm>
            <a:off x="4536366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Gasto Esperado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536366" y="3304877"/>
            <a:ext cx="31188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4.626.177 €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Calculado a partir del ratio histórico mensual. Coherente con la dinámica operativa observada.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33244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8222251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 Esperado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222251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Mejora de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 2025. Refleja la maduración del modelo de negocio y la eficiencia creciente.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1387078"/>
            <a:ext cx="629686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ciclo completo de análisis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desde los datos en bruto hasta la decisión estratégica.</a:t>
            </a:r>
            <a:endParaRPr lang="en-US" sz="13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2128639"/>
            <a:ext cx="265800" cy="26580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7326" y="2123182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Datos limpios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1237326" y="2499717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Integridad del 95,4% garantizada mediante procesos ETL documentados.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3386634"/>
            <a:ext cx="265800" cy="26580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237326" y="3381177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KPIs validados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1237326" y="3757712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operativas y financieras auditables y trazables.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4369991"/>
            <a:ext cx="265800" cy="26580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7326" y="4364534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honesta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1237326" y="4741069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 estadístico con margen de error explícito e intervalo de confianza al 95%.</a:t>
            </a:r>
            <a:endParaRPr lang="en-US" sz="13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5627985"/>
            <a:ext cx="265800" cy="265807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37326" y="5622528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Metodología reproducible</a:t>
            </a:r>
            <a:endParaRPr lang="en-US" sz="1700" dirty="0"/>
          </a:p>
        </p:txBody>
      </p:sp>
      <p:sp>
        <p:nvSpPr>
          <p:cNvPr id="16" name="Text 9"/>
          <p:cNvSpPr/>
          <p:nvPr/>
        </p:nvSpPr>
        <p:spPr>
          <a:xfrm>
            <a:off x="1237326" y="5999063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 defendible, escalable y preparado para auditoría.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754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849563"/>
            <a:ext cx="3496877" cy="20328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Priorizar la inversión en Servicios de Valor Añadido / Cloud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línea de mayor crecimiento —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2025.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849563"/>
            <a:ext cx="3496877" cy="20328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Formalizar el control mensual en Marketing y Tecnología y TI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 alertas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sobreejecución (&gt;10%) detectadas en 2025.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2849563"/>
            <a:ext cx="3496877" cy="20328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Reinvertir el margen proyectado en el crecimiento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Margen esperado 2026: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vs. 2025).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650</Words>
  <Application>Microsoft Office PowerPoint</Application>
  <PresentationFormat>Panorámica</PresentationFormat>
  <Paragraphs>117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DM Sans Medium</vt:lpstr>
      <vt:lpstr>DM Sans Light</vt:lpstr>
      <vt:lpstr>Arial</vt:lpstr>
      <vt:lpstr>Inter</vt:lpstr>
      <vt:lpstr>Inter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maikol ferman</cp:lastModifiedBy>
  <cp:revision>4</cp:revision>
  <dcterms:created xsi:type="dcterms:W3CDTF">2026-08-25T13:15:45Z</dcterms:created>
  <dcterms:modified xsi:type="dcterms:W3CDTF">2026-08-25T14:25:07Z</dcterms:modified>
</cp:coreProperties>
</file>