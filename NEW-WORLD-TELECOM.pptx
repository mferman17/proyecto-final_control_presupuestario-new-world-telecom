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DM Sans Medium" pitchFamily="2" charset="0"/>
      <p:regular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46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NEW WORLD TELECOM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Control Presupuestario y KPIs Financieros 2025–2026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08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Índice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595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55379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5" name="Text 3"/>
          <p:cNvSpPr/>
          <p:nvPr/>
        </p:nvSpPr>
        <p:spPr>
          <a:xfrm>
            <a:off x="661475" y="270063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Procesamiento de Datos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347359" y="22595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555379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8" name="Text 6"/>
          <p:cNvSpPr/>
          <p:nvPr/>
        </p:nvSpPr>
        <p:spPr>
          <a:xfrm>
            <a:off x="4347359" y="270063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Stack Tecnológico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033244" y="22595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555379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1" name="Text 9"/>
          <p:cNvSpPr/>
          <p:nvPr/>
        </p:nvSpPr>
        <p:spPr>
          <a:xfrm>
            <a:off x="8033244" y="270063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Indicadores Clave 2025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332660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3622477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4" name="Text 12"/>
          <p:cNvSpPr/>
          <p:nvPr/>
        </p:nvSpPr>
        <p:spPr>
          <a:xfrm>
            <a:off x="661475" y="376773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Líneas de Negocio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347359" y="332660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7359" y="3622477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7" name="Text 15"/>
          <p:cNvSpPr/>
          <p:nvPr/>
        </p:nvSpPr>
        <p:spPr>
          <a:xfrm>
            <a:off x="4347359" y="376773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Estructura de Datos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033244" y="332660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33244" y="3622477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20" name="Text 18"/>
          <p:cNvSpPr/>
          <p:nvPr/>
        </p:nvSpPr>
        <p:spPr>
          <a:xfrm>
            <a:off x="8033244" y="376773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Forecast 2026: Ingresos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61475" y="43937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4689574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23" name="Text 21"/>
          <p:cNvSpPr/>
          <p:nvPr/>
        </p:nvSpPr>
        <p:spPr>
          <a:xfrm>
            <a:off x="661475" y="4834830"/>
            <a:ext cx="3496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Forecast 2026: Presupuesto y Gasto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4347359" y="43937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08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347359" y="4689574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26" name="Text 24"/>
          <p:cNvSpPr/>
          <p:nvPr/>
        </p:nvSpPr>
        <p:spPr>
          <a:xfrm>
            <a:off x="4347359" y="48348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Conclusión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8033244" y="43937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09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33244" y="4689574"/>
            <a:ext cx="3496877" cy="2540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29" name="Text 27"/>
          <p:cNvSpPr/>
          <p:nvPr/>
        </p:nvSpPr>
        <p:spPr>
          <a:xfrm>
            <a:off x="8033244" y="48348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Recomendaciones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Procesamiento de Datos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305223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un meticuloso proceso para asegurar la calidad y confiabilidad de los datos que </a:t>
            </a:r>
            <a:r>
              <a:rPr lang="en-US" sz="135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impulsan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las decisiones estratégicas.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75369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2030809"/>
            <a:ext cx="3515828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6" name="Text 4"/>
          <p:cNvSpPr/>
          <p:nvPr/>
        </p:nvSpPr>
        <p:spPr>
          <a:xfrm>
            <a:off x="661475" y="2156023"/>
            <a:ext cx="351582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Fuente original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1475" y="2524522"/>
            <a:ext cx="351582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241 registros brutos de 6 departamentos, 5 categorías y 24 períodos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37934" y="175369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7934" y="2030809"/>
            <a:ext cx="3515828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0" name="Text 8"/>
          <p:cNvSpPr/>
          <p:nvPr/>
        </p:nvSpPr>
        <p:spPr>
          <a:xfrm>
            <a:off x="4337934" y="2156023"/>
            <a:ext cx="351582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Limpieza ETL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37934" y="2524522"/>
            <a:ext cx="3515828" cy="1719064"/>
          </a:xfrm>
          <a:prstGeom prst="rect">
            <a:avLst/>
          </a:prstGeom>
          <a:noFill/>
          <a:ln/>
        </p:spPr>
        <p:txBody>
          <a:bodyPr wrap="square" lIns="0" tIns="6970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de duplicados y valores nulos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Normalización de nombres inconsistentes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rangos y coherencia temporal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14392" y="175369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14392" y="2030809"/>
            <a:ext cx="3515828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4" name="Text 12"/>
          <p:cNvSpPr/>
          <p:nvPr/>
        </p:nvSpPr>
        <p:spPr>
          <a:xfrm>
            <a:off x="8014392" y="2156023"/>
            <a:ext cx="351582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14392" y="2524522"/>
            <a:ext cx="351582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 registros válidos (</a:t>
            </a: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95,4%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integridad)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1475" y="453489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1475" y="4812010"/>
            <a:ext cx="5354007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8" name="Text 16"/>
          <p:cNvSpPr/>
          <p:nvPr/>
        </p:nvSpPr>
        <p:spPr>
          <a:xfrm>
            <a:off x="661475" y="4937224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Herramientas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1475" y="5305723"/>
            <a:ext cx="53540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(Pandas, NumPy) para transformación; SQL para validación relacional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6113" y="453489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6113" y="4812010"/>
            <a:ext cx="5354107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22" name="Text 20"/>
          <p:cNvSpPr/>
          <p:nvPr/>
        </p:nvSpPr>
        <p:spPr>
          <a:xfrm>
            <a:off x="6176113" y="4937224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76113" y="5305723"/>
            <a:ext cx="53541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limpio y confiable como base para KPIs y forecast estadístico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35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Stack Tecnológico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04158"/>
            <a:ext cx="762378" cy="762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310415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512840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Modelado relacional y diseño del esquema en estrella. Base estructural del sistema de datos.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104158"/>
            <a:ext cx="762378" cy="7623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310415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Python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512840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Limpieza ETL, cálculo de KPIs y generación del modelo de forecast estadístico.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104158"/>
            <a:ext cx="762378" cy="7623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310415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512840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interactivo de 6 páginas con métricas DAX para seguimiento ejecutivo en tiempo real.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0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Indicadores Clave 2025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53245"/>
            <a:ext cx="518723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6,09M€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Ingresos Totales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Facturación consolidada del ejercicio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15324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4,30M€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Presupuesto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presupuestaria anual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19675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29,3%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505668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Margen Operativo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46536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Rentabilidad sobre ingresos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419675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100,1%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505668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Ejecución Presupuestaria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46536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casi perfecto al plan</a:t>
            </a:r>
            <a:endParaRPr lang="en-US" sz="1450" dirty="0"/>
          </a:p>
        </p:txBody>
      </p:sp>
      <p:pic>
        <p:nvPicPr>
          <p:cNvPr id="16" name="Imagen 15" descr="Código QR&#10;&#10;El contenido generado por IA puede ser incorrecto.">
            <a:extLst>
              <a:ext uri="{FF2B5EF4-FFF2-40B4-BE49-F238E27FC236}">
                <a16:creationId xmlns:a16="http://schemas.microsoft.com/office/drawing/2014/main" id="{50C07859-6803-9864-7E25-0429BD3B1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302" y="1924"/>
            <a:ext cx="1969698" cy="19696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Líneas de Negocio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Servicios B2B Corporativos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+18,3%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crecimiento anual. Motor principal de ingresos en el segmento empresarial.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Servicios Residenciales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+9,4%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crecimiento. Expansión sostenida en atención al cliente y cobertura doméstica.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/ Digital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828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+37,8%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línea de mayor crecimiento. El segmento Tecnología y TI lidera la transformación digital del negocio.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70124"/>
            <a:ext cx="6913390" cy="39176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3400" y="714077"/>
            <a:ext cx="352307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Estructura de Datos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8013400" y="1987649"/>
            <a:ext cx="35230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 analítico se apoya en un </a:t>
            </a: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esquema en estrella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cobertura completa de la organización.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013400" y="2960985"/>
            <a:ext cx="3523070" cy="2038747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 departamentos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5 categorías, 24 períodos de análisis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limpio: </a:t>
            </a: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230 de 241 registros válidos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(95,4% de integridad)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Anomalías identificadas y corregidas: nombres inconsistentes, valores nulos y duplicados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013400" y="5186561"/>
            <a:ext cx="3523070" cy="936625"/>
          </a:xfrm>
          <a:prstGeom prst="roundRect">
            <a:avLst>
              <a:gd name="adj" fmla="val 2838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V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601" y="5438676"/>
            <a:ext cx="221451" cy="177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89252" y="5380236"/>
            <a:ext cx="27700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calidad del dato es la base de cualquier proyección fiable.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Forecast 2026: Ingresos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Proyección estadística robusta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ingresos proyectados para 2026 ascienden a </a:t>
            </a: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7.028.269 €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 que representa un crecimiento del </a:t>
            </a:r>
            <a:r>
              <a:rPr lang="en-US" sz="1450" b="1" dirty="0">
                <a:solidFill>
                  <a:srgbClr val="2828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+15,3%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respecto al ejercicio 2025.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531096"/>
            <a:ext cx="5203794" cy="97333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Método: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Tendencia histórica + estacionalidad mensual + intervalo de confianza al 95%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Rango B2B estimado: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3.751.888 € – 3.891.917 €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467449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metodología incorpora explícitamente el margen de error, dotando al forecast de una credibilidad estadística defendible.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85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Forecast 2026: Presupuesto y Gasto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07184"/>
            <a:ext cx="3496877" cy="2412206"/>
          </a:xfrm>
          <a:prstGeom prst="roundRect">
            <a:avLst>
              <a:gd name="adj" fmla="val 1175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4" name="Text 2"/>
          <p:cNvSpPr/>
          <p:nvPr/>
        </p:nvSpPr>
        <p:spPr>
          <a:xfrm>
            <a:off x="850482" y="289619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Presupuesto Planificado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304877"/>
            <a:ext cx="3118863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4.482.809 €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Incremento del +4,2% sobre el presupuesto 2025. Crecimiento controlado y alineado con la estrategia.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707184"/>
            <a:ext cx="3496877" cy="2412206"/>
          </a:xfrm>
          <a:prstGeom prst="roundRect">
            <a:avLst>
              <a:gd name="adj" fmla="val 1175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7" name="Text 5"/>
          <p:cNvSpPr/>
          <p:nvPr/>
        </p:nvSpPr>
        <p:spPr>
          <a:xfrm>
            <a:off x="4536366" y="289619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Gasto Esperado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304877"/>
            <a:ext cx="311886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4.626.177 €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Calculado a partir del ratio histórico mensual. Coherente con la dinámica operativa observada.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707184"/>
            <a:ext cx="3496877" cy="2412206"/>
          </a:xfrm>
          <a:prstGeom prst="roundRect">
            <a:avLst>
              <a:gd name="adj" fmla="val 1175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s-VE"/>
          </a:p>
        </p:txBody>
      </p:sp>
      <p:sp>
        <p:nvSpPr>
          <p:cNvPr id="10" name="Text 8"/>
          <p:cNvSpPr/>
          <p:nvPr/>
        </p:nvSpPr>
        <p:spPr>
          <a:xfrm>
            <a:off x="8222251" y="289619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Margen Operativo Esperado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304877"/>
            <a:ext cx="3118863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34,2%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de </a:t>
            </a: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+4,9 p.p.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respecto a 2025. Refleja la maduración del modelo de negocio y la eficiencia creciente.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4200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Conclusión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1387078"/>
            <a:ext cx="629686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</a:t>
            </a:r>
            <a:r>
              <a:rPr lang="en-US" sz="13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ciclo completo de análisis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desde los datos en bruto hasta la decisión estratégica.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851" y="2128639"/>
            <a:ext cx="265800" cy="2658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7326" y="2123182"/>
            <a:ext cx="572100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Datos limpios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237326" y="2499717"/>
            <a:ext cx="572100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 del 95,4% garantizada mediante procesos ETL documentados.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851" y="3386634"/>
            <a:ext cx="265800" cy="2658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7326" y="3381177"/>
            <a:ext cx="572100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KPIs validados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237326" y="3757712"/>
            <a:ext cx="572100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operativas y financieras auditables y trazables.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851" y="4369991"/>
            <a:ext cx="265800" cy="2658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7326" y="4364534"/>
            <a:ext cx="572100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Proyección honesta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237326" y="4741069"/>
            <a:ext cx="572100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estadístico con margen de error explícito e intervalo de confianza al 95%.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851" y="5627985"/>
            <a:ext cx="265800" cy="26580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7326" y="5622528"/>
            <a:ext cx="572100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Metodología reproducible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1237326" y="5999063"/>
            <a:ext cx="572100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 defendible, escalable y preparado para auditoría.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754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Recomendaciones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49563"/>
            <a:ext cx="3496877" cy="20328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063974"/>
            <a:ext cx="296646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Priorizar la inversión en Servicios de Valor Añadido / Cloud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406320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línea de mayor crecimiento — </a:t>
            </a: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+37,8%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2025.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49563"/>
            <a:ext cx="3496877" cy="20328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063974"/>
            <a:ext cx="296646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Formalizar el control mensual en Marketing y Tecnología y TI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406320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alertas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45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(&gt;10%) detectadas en 2025.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849563"/>
            <a:ext cx="3496877" cy="20328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3063974"/>
            <a:ext cx="296646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Reinvertir el margen proyectado en el crecimiento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406320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 esperado 2026: </a:t>
            </a: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34,2%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+4,9 p.p.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2025).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3322</TotalTime>
  <Words>651</Words>
  <Application>Microsoft Office PowerPoint</Application>
  <PresentationFormat>Panorámica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DM Sans Medium</vt:lpstr>
      <vt:lpstr>DM Sans Light</vt:lpstr>
      <vt:lpstr>Arial</vt:lpstr>
      <vt:lpstr>Inter</vt:lpstr>
      <vt:lpstr>Inter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maikol ferman</cp:lastModifiedBy>
  <cp:revision>8</cp:revision>
  <dcterms:created xsi:type="dcterms:W3CDTF">2026-08-25T13:15:45Z</dcterms:created>
  <dcterms:modified xsi:type="dcterms:W3CDTF">2026-08-27T20:46:03Z</dcterms:modified>
</cp:coreProperties>
</file>